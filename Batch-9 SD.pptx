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3" r:id="rId8"/>
    <p:sldId id="264" r:id="rId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94708"/>
  </p:normalViewPr>
  <p:slideViewPr>
    <p:cSldViewPr>
      <p:cViewPr varScale="1">
        <p:scale>
          <a:sx n="117" d="100"/>
          <a:sy n="117" d="100"/>
        </p:scale>
        <p:origin x="192"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6" name="Holder 6"/>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4" name="Holder 4"/>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3" name="Holder 3"/>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r>
              <a:rPr spc="-10" dirty="0"/>
              <a:t>08/05/2025</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13738" y="422605"/>
            <a:ext cx="8764523" cy="641349"/>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92835" y="1250086"/>
            <a:ext cx="9725660" cy="3154045"/>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0324592" y="6460642"/>
            <a:ext cx="1431290"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r>
              <a:rPr spc="-20" dirty="0"/>
              <a:t>DEPARTMENT</a:t>
            </a:r>
            <a:r>
              <a:rPr spc="-15" dirty="0"/>
              <a:t> </a:t>
            </a:r>
            <a:r>
              <a:rPr spc="-10" dirty="0"/>
              <a:t>OF</a:t>
            </a:r>
            <a:r>
              <a:rPr dirty="0"/>
              <a:t> </a:t>
            </a:r>
            <a:r>
              <a:rPr spc="-20" dirty="0"/>
              <a:t>AIML</a:t>
            </a:r>
          </a:p>
        </p:txBody>
      </p:sp>
      <p:sp>
        <p:nvSpPr>
          <p:cNvPr id="5" name="Holder 5"/>
          <p:cNvSpPr>
            <a:spLocks noGrp="1"/>
          </p:cNvSpPr>
          <p:nvPr>
            <p:ph type="dt" sz="half" idx="6"/>
          </p:nvPr>
        </p:nvSpPr>
        <p:spPr>
          <a:xfrm>
            <a:off x="380491" y="6460642"/>
            <a:ext cx="752475"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r>
              <a:rPr spc="-10" dirty="0"/>
              <a:t>08/05/2025</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7611" y="1363309"/>
            <a:ext cx="8973185" cy="954405"/>
          </a:xfrm>
          <a:prstGeom prst="rect">
            <a:avLst/>
          </a:prstGeom>
        </p:spPr>
        <p:txBody>
          <a:bodyPr vert="horz" wrap="square" lIns="0" tIns="64135" rIns="0" bIns="0" rtlCol="0">
            <a:spAutoFit/>
          </a:bodyPr>
          <a:lstStyle/>
          <a:p>
            <a:pPr marL="2655570" marR="5080" indent="-2643505">
              <a:lnSpc>
                <a:spcPts val="3479"/>
              </a:lnSpc>
              <a:spcBef>
                <a:spcPts val="505"/>
              </a:spcBef>
            </a:pPr>
            <a:r>
              <a:rPr dirty="0">
                <a:latin typeface="Calibri Light"/>
                <a:cs typeface="Calibri Light"/>
              </a:rPr>
              <a:t>SRI</a:t>
            </a:r>
            <a:r>
              <a:rPr spc="-100" dirty="0">
                <a:latin typeface="Calibri Light"/>
                <a:cs typeface="Calibri Light"/>
              </a:rPr>
              <a:t> </a:t>
            </a:r>
            <a:r>
              <a:rPr spc="-20" dirty="0">
                <a:latin typeface="Calibri Light"/>
                <a:cs typeface="Calibri Light"/>
              </a:rPr>
              <a:t>INDU</a:t>
            </a:r>
            <a:r>
              <a:rPr spc="-165" dirty="0">
                <a:latin typeface="Calibri Light"/>
                <a:cs typeface="Calibri Light"/>
              </a:rPr>
              <a:t> </a:t>
            </a:r>
            <a:r>
              <a:rPr spc="-45" dirty="0">
                <a:latin typeface="Calibri Light"/>
                <a:cs typeface="Calibri Light"/>
              </a:rPr>
              <a:t>COLLEGE</a:t>
            </a:r>
            <a:r>
              <a:rPr spc="-175" dirty="0">
                <a:latin typeface="Calibri Light"/>
                <a:cs typeface="Calibri Light"/>
              </a:rPr>
              <a:t> </a:t>
            </a:r>
            <a:r>
              <a:rPr dirty="0">
                <a:latin typeface="Calibri Light"/>
                <a:cs typeface="Calibri Light"/>
              </a:rPr>
              <a:t>OF</a:t>
            </a:r>
            <a:r>
              <a:rPr spc="-55" dirty="0">
                <a:latin typeface="Calibri Light"/>
                <a:cs typeface="Calibri Light"/>
              </a:rPr>
              <a:t> </a:t>
            </a:r>
            <a:r>
              <a:rPr spc="-50" dirty="0">
                <a:latin typeface="Calibri Light"/>
                <a:cs typeface="Calibri Light"/>
              </a:rPr>
              <a:t>ENGINEERING</a:t>
            </a:r>
            <a:r>
              <a:rPr spc="-229" dirty="0">
                <a:latin typeface="Calibri Light"/>
                <a:cs typeface="Calibri Light"/>
              </a:rPr>
              <a:t> </a:t>
            </a:r>
            <a:r>
              <a:rPr dirty="0">
                <a:latin typeface="Calibri Light"/>
                <a:cs typeface="Calibri Light"/>
              </a:rPr>
              <a:t>AND</a:t>
            </a:r>
            <a:r>
              <a:rPr spc="-125" dirty="0">
                <a:latin typeface="Calibri Light"/>
                <a:cs typeface="Calibri Light"/>
              </a:rPr>
              <a:t> </a:t>
            </a:r>
            <a:r>
              <a:rPr spc="-10" dirty="0">
                <a:latin typeface="Calibri Light"/>
                <a:cs typeface="Calibri Light"/>
              </a:rPr>
              <a:t>TECHNOLOGY </a:t>
            </a:r>
            <a:r>
              <a:rPr spc="-80" dirty="0">
                <a:latin typeface="Calibri Light"/>
                <a:cs typeface="Calibri Light"/>
              </a:rPr>
              <a:t>DEPARTMENT</a:t>
            </a:r>
            <a:r>
              <a:rPr spc="-105" dirty="0">
                <a:latin typeface="Calibri Light"/>
                <a:cs typeface="Calibri Light"/>
              </a:rPr>
              <a:t> </a:t>
            </a:r>
            <a:r>
              <a:rPr dirty="0">
                <a:latin typeface="Calibri Light"/>
                <a:cs typeface="Calibri Light"/>
              </a:rPr>
              <a:t>OF</a:t>
            </a:r>
            <a:r>
              <a:rPr spc="-100" dirty="0">
                <a:latin typeface="Calibri Light"/>
                <a:cs typeface="Calibri Light"/>
              </a:rPr>
              <a:t> </a:t>
            </a:r>
            <a:r>
              <a:rPr spc="-20" dirty="0">
                <a:latin typeface="Calibri Light"/>
                <a:cs typeface="Calibri Light"/>
              </a:rPr>
              <a:t>AIML</a:t>
            </a:r>
          </a:p>
        </p:txBody>
      </p:sp>
      <p:sp>
        <p:nvSpPr>
          <p:cNvPr id="3" name="object 3"/>
          <p:cNvSpPr txBox="1"/>
          <p:nvPr/>
        </p:nvSpPr>
        <p:spPr>
          <a:xfrm>
            <a:off x="2628900" y="2209800"/>
            <a:ext cx="6934200" cy="2215990"/>
          </a:xfrm>
          <a:prstGeom prst="rect">
            <a:avLst/>
          </a:prstGeom>
        </p:spPr>
        <p:txBody>
          <a:bodyPr vert="horz" wrap="square" lIns="0" tIns="116839" rIns="0" bIns="0" rtlCol="0">
            <a:spAutoFit/>
          </a:bodyPr>
          <a:lstStyle/>
          <a:p>
            <a:pPr marR="147320" algn="ctr">
              <a:lnSpc>
                <a:spcPct val="100000"/>
              </a:lnSpc>
              <a:spcBef>
                <a:spcPts val="919"/>
              </a:spcBef>
            </a:pPr>
            <a:r>
              <a:rPr sz="1700" dirty="0">
                <a:latin typeface="Times New Roman"/>
                <a:cs typeface="Times New Roman"/>
              </a:rPr>
              <a:t>II</a:t>
            </a:r>
            <a:r>
              <a:rPr lang="en-US" sz="1700" spc="-5" dirty="0">
                <a:latin typeface="Times New Roman"/>
                <a:cs typeface="Times New Roman"/>
              </a:rPr>
              <a:t>I </a:t>
            </a:r>
            <a:r>
              <a:rPr sz="1700" dirty="0">
                <a:latin typeface="Times New Roman"/>
                <a:cs typeface="Times New Roman"/>
              </a:rPr>
              <a:t>BTECH</a:t>
            </a:r>
            <a:r>
              <a:rPr sz="1700" spc="-35" dirty="0">
                <a:latin typeface="Times New Roman"/>
                <a:cs typeface="Times New Roman"/>
              </a:rPr>
              <a:t> </a:t>
            </a:r>
            <a:r>
              <a:rPr sz="1700" dirty="0">
                <a:latin typeface="Times New Roman"/>
                <a:cs typeface="Times New Roman"/>
              </a:rPr>
              <a:t>I</a:t>
            </a:r>
            <a:r>
              <a:rPr sz="1700" spc="-45" dirty="0">
                <a:latin typeface="Times New Roman"/>
                <a:cs typeface="Times New Roman"/>
              </a:rPr>
              <a:t> </a:t>
            </a:r>
            <a:r>
              <a:rPr sz="1700" spc="-25" dirty="0">
                <a:latin typeface="Times New Roman"/>
                <a:cs typeface="Times New Roman"/>
              </a:rPr>
              <a:t>SEM</a:t>
            </a:r>
            <a:endParaRPr sz="1700" dirty="0">
              <a:latin typeface="Times New Roman"/>
              <a:cs typeface="Times New Roman"/>
            </a:endParaRPr>
          </a:p>
          <a:p>
            <a:pPr marR="153035" algn="ctr">
              <a:lnSpc>
                <a:spcPct val="100000"/>
              </a:lnSpc>
              <a:spcBef>
                <a:spcPts val="815"/>
              </a:spcBef>
            </a:pPr>
            <a:r>
              <a:rPr sz="1700" spc="-35" dirty="0">
                <a:latin typeface="Times New Roman"/>
                <a:cs typeface="Times New Roman"/>
              </a:rPr>
              <a:t>BATCH</a:t>
            </a:r>
            <a:r>
              <a:rPr sz="1700" spc="-110" dirty="0">
                <a:latin typeface="Times New Roman"/>
                <a:cs typeface="Times New Roman"/>
              </a:rPr>
              <a:t> </a:t>
            </a:r>
            <a:r>
              <a:rPr sz="1700" dirty="0">
                <a:latin typeface="Times New Roman"/>
                <a:cs typeface="Times New Roman"/>
              </a:rPr>
              <a:t>:</a:t>
            </a:r>
            <a:r>
              <a:rPr sz="1700" spc="-40" dirty="0">
                <a:latin typeface="Times New Roman"/>
                <a:cs typeface="Times New Roman"/>
              </a:rPr>
              <a:t> </a:t>
            </a:r>
            <a:r>
              <a:rPr sz="1700" spc="-50" dirty="0">
                <a:latin typeface="Times New Roman"/>
                <a:cs typeface="Times New Roman"/>
              </a:rPr>
              <a:t>9</a:t>
            </a:r>
            <a:endParaRPr lang="en-US" sz="1700" spc="-50" dirty="0">
              <a:latin typeface="Times New Roman"/>
              <a:cs typeface="Times New Roman"/>
            </a:endParaRPr>
          </a:p>
          <a:p>
            <a:pPr marR="153035" algn="ctr">
              <a:lnSpc>
                <a:spcPct val="100000"/>
              </a:lnSpc>
              <a:spcBef>
                <a:spcPts val="815"/>
              </a:spcBef>
            </a:pPr>
            <a:r>
              <a:rPr lang="en-IN" sz="1700" b="1" spc="-50" dirty="0">
                <a:latin typeface="Times New Roman"/>
                <a:cs typeface="Times New Roman"/>
              </a:rPr>
              <a:t>SUBJECT:</a:t>
            </a:r>
            <a:r>
              <a:rPr lang="en-IN" sz="1700" spc="-50" dirty="0">
                <a:latin typeface="Times New Roman"/>
                <a:cs typeface="Times New Roman"/>
              </a:rPr>
              <a:t> Skill Development Course Laboratory</a:t>
            </a:r>
            <a:endParaRPr sz="1700" dirty="0">
              <a:latin typeface="Times New Roman"/>
              <a:cs typeface="Times New Roman"/>
            </a:endParaRPr>
          </a:p>
          <a:p>
            <a:pPr marR="123189" algn="ctr">
              <a:spcBef>
                <a:spcPts val="795"/>
              </a:spcBef>
            </a:pPr>
            <a:r>
              <a:rPr sz="1800" b="1" spc="-10" dirty="0">
                <a:latin typeface="Times New Roman"/>
                <a:cs typeface="Times New Roman"/>
              </a:rPr>
              <a:t>TOPIC:</a:t>
            </a:r>
            <a:r>
              <a:rPr lang="en-US" sz="1800" b="1" spc="-10" dirty="0">
                <a:latin typeface="Times New Roman"/>
                <a:cs typeface="Times New Roman"/>
              </a:rPr>
              <a:t> </a:t>
            </a:r>
            <a:r>
              <a:rPr lang="en-US" sz="1800" spc="-10" dirty="0">
                <a:latin typeface="Times New Roman"/>
                <a:cs typeface="Times New Roman"/>
              </a:rPr>
              <a:t>Geo-Tracker App</a:t>
            </a:r>
            <a:endParaRPr sz="1800" dirty="0">
              <a:latin typeface="Times New Roman"/>
              <a:cs typeface="Times New Roman"/>
            </a:endParaRPr>
          </a:p>
          <a:p>
            <a:pPr marR="151130" algn="ctr">
              <a:lnSpc>
                <a:spcPct val="100000"/>
              </a:lnSpc>
              <a:spcBef>
                <a:spcPts val="795"/>
              </a:spcBef>
            </a:pPr>
            <a:r>
              <a:rPr lang="en-US" sz="1700" dirty="0">
                <a:latin typeface="Times New Roman"/>
                <a:cs typeface="Times New Roman"/>
              </a:rPr>
              <a:t>  </a:t>
            </a:r>
            <a:r>
              <a:rPr sz="1700" dirty="0">
                <a:latin typeface="Times New Roman"/>
                <a:cs typeface="Times New Roman"/>
              </a:rPr>
              <a:t>TEAM</a:t>
            </a:r>
            <a:r>
              <a:rPr sz="1700" spc="-60" dirty="0">
                <a:latin typeface="Times New Roman"/>
                <a:cs typeface="Times New Roman"/>
              </a:rPr>
              <a:t> </a:t>
            </a:r>
            <a:r>
              <a:rPr sz="1700" dirty="0">
                <a:latin typeface="Times New Roman"/>
                <a:cs typeface="Times New Roman"/>
              </a:rPr>
              <a:t>MEMBERS</a:t>
            </a:r>
            <a:r>
              <a:rPr lang="en-US" sz="1700" dirty="0">
                <a:latin typeface="Times New Roman"/>
                <a:cs typeface="Times New Roman"/>
              </a:rPr>
              <a:t>:</a:t>
            </a:r>
          </a:p>
          <a:p>
            <a:pPr marR="151130" algn="ctr">
              <a:lnSpc>
                <a:spcPct val="100000"/>
              </a:lnSpc>
              <a:spcBef>
                <a:spcPts val="795"/>
              </a:spcBef>
            </a:pPr>
            <a:endParaRPr lang="en-US" sz="1700" dirty="0">
              <a:latin typeface="Times New Roman"/>
              <a:cs typeface="Times New Roman"/>
            </a:endParaRPr>
          </a:p>
        </p:txBody>
      </p:sp>
      <p:pic>
        <p:nvPicPr>
          <p:cNvPr id="4" name="object 4"/>
          <p:cNvPicPr/>
          <p:nvPr/>
        </p:nvPicPr>
        <p:blipFill>
          <a:blip r:embed="rId2" cstate="print"/>
          <a:stretch>
            <a:fillRect/>
          </a:stretch>
        </p:blipFill>
        <p:spPr>
          <a:xfrm>
            <a:off x="5257800" y="155408"/>
            <a:ext cx="1892808" cy="108676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graphicFrame>
        <p:nvGraphicFramePr>
          <p:cNvPr id="8" name="Table 7">
            <a:extLst>
              <a:ext uri="{FF2B5EF4-FFF2-40B4-BE49-F238E27FC236}">
                <a16:creationId xmlns:a16="http://schemas.microsoft.com/office/drawing/2014/main" id="{CED8F2B4-63A2-29FE-828C-F9A341D743A0}"/>
              </a:ext>
            </a:extLst>
          </p:cNvPr>
          <p:cNvGraphicFramePr>
            <a:graphicFrameLocks noGrp="1"/>
          </p:cNvGraphicFramePr>
          <p:nvPr>
            <p:extLst>
              <p:ext uri="{D42A27DB-BD31-4B8C-83A1-F6EECF244321}">
                <p14:modId xmlns:p14="http://schemas.microsoft.com/office/powerpoint/2010/main" val="1851274715"/>
              </p:ext>
            </p:extLst>
          </p:nvPr>
        </p:nvGraphicFramePr>
        <p:xfrm>
          <a:off x="4419600" y="4114800"/>
          <a:ext cx="4064000" cy="1854200"/>
        </p:xfrm>
        <a:graphic>
          <a:graphicData uri="http://schemas.openxmlformats.org/drawingml/2006/table">
            <a:tbl>
              <a:tblPr firstRow="1" bandRow="1"/>
              <a:tblGrid>
                <a:gridCol w="1778000">
                  <a:extLst>
                    <a:ext uri="{9D8B030D-6E8A-4147-A177-3AD203B41FA5}">
                      <a16:colId xmlns:a16="http://schemas.microsoft.com/office/drawing/2014/main" val="3244656017"/>
                    </a:ext>
                  </a:extLst>
                </a:gridCol>
                <a:gridCol w="2286000">
                  <a:extLst>
                    <a:ext uri="{9D8B030D-6E8A-4147-A177-3AD203B41FA5}">
                      <a16:colId xmlns:a16="http://schemas.microsoft.com/office/drawing/2014/main" val="1118685520"/>
                    </a:ext>
                  </a:extLst>
                </a:gridCol>
              </a:tblGrid>
              <a:tr h="370840">
                <a:tc>
                  <a:txBody>
                    <a:bodyPr/>
                    <a:lstStyle/>
                    <a:p>
                      <a:r>
                        <a:rPr lang="en-US" dirty="0" err="1">
                          <a:latin typeface="Times New Roman" panose="02020603050405020304" pitchFamily="18" charset="0"/>
                          <a:cs typeface="Times New Roman" panose="02020603050405020304" pitchFamily="18" charset="0"/>
                        </a:rPr>
                        <a:t>S.Sirisha</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23D41A66G9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93341685"/>
                  </a:ext>
                </a:extLst>
              </a:tr>
              <a:tr h="370840">
                <a:tc>
                  <a:txBody>
                    <a:bodyPr/>
                    <a:lstStyle/>
                    <a:p>
                      <a:r>
                        <a:rPr lang="en-US" dirty="0" err="1">
                          <a:latin typeface="Times New Roman" panose="02020603050405020304" pitchFamily="18" charset="0"/>
                          <a:cs typeface="Times New Roman" panose="02020603050405020304" pitchFamily="18" charset="0"/>
                        </a:rPr>
                        <a:t>T.Harini</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87794424"/>
                  </a:ext>
                </a:extLst>
              </a:tr>
              <a:tr h="370840">
                <a:tc>
                  <a:txBody>
                    <a:bodyPr/>
                    <a:lstStyle/>
                    <a:p>
                      <a:r>
                        <a:rPr lang="en-US" dirty="0" err="1">
                          <a:latin typeface="Times New Roman" panose="02020603050405020304" pitchFamily="18" charset="0"/>
                          <a:cs typeface="Times New Roman" panose="02020603050405020304" pitchFamily="18" charset="0"/>
                        </a:rPr>
                        <a:t>T.Rishwanth</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69431570"/>
                  </a:ext>
                </a:extLst>
              </a:tr>
              <a:tr h="370840">
                <a:tc>
                  <a:txBody>
                    <a:bodyPr/>
                    <a:lstStyle/>
                    <a:p>
                      <a:r>
                        <a:rPr lang="en-US" dirty="0" err="1">
                          <a:latin typeface="Times New Roman" panose="02020603050405020304" pitchFamily="18" charset="0"/>
                          <a:cs typeface="Times New Roman" panose="02020603050405020304" pitchFamily="18" charset="0"/>
                        </a:rPr>
                        <a:t>U.Navya</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192311356"/>
                  </a:ext>
                </a:extLst>
              </a:tr>
              <a:tr h="370840">
                <a:tc>
                  <a:txBody>
                    <a:bodyPr/>
                    <a:lstStyle/>
                    <a:p>
                      <a:r>
                        <a:rPr lang="en-US" dirty="0" err="1">
                          <a:latin typeface="Times New Roman" panose="02020603050405020304" pitchFamily="18" charset="0"/>
                          <a:cs typeface="Times New Roman" panose="02020603050405020304" pitchFamily="18" charset="0"/>
                        </a:rPr>
                        <a:t>U.Akash</a:t>
                      </a:r>
                      <a:endParaRPr lang="en-US"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23D41A66H3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102740894"/>
                  </a:ext>
                </a:extLst>
              </a:tr>
            </a:tbl>
          </a:graphicData>
        </a:graphic>
      </p:graphicFrame>
      <p:sp>
        <p:nvSpPr>
          <p:cNvPr id="9" name="object 5">
            <a:extLst>
              <a:ext uri="{FF2B5EF4-FFF2-40B4-BE49-F238E27FC236}">
                <a16:creationId xmlns:a16="http://schemas.microsoft.com/office/drawing/2014/main" id="{A679EEB1-4F5F-9EB5-8B60-D3DAA0BF57C1}"/>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8551" rIns="0" bIns="0" rtlCol="0">
            <a:spAutoFit/>
          </a:bodyPr>
          <a:lstStyle/>
          <a:p>
            <a:pPr marL="3323590">
              <a:lnSpc>
                <a:spcPct val="100000"/>
              </a:lnSpc>
              <a:spcBef>
                <a:spcPts val="95"/>
              </a:spcBef>
            </a:pPr>
            <a:r>
              <a:rPr spc="-10" dirty="0"/>
              <a:t>ABSTRACT</a:t>
            </a:r>
          </a:p>
        </p:txBody>
      </p:sp>
      <p:sp>
        <p:nvSpPr>
          <p:cNvPr id="8" name="Text Placeholder 7">
            <a:extLst>
              <a:ext uri="{FF2B5EF4-FFF2-40B4-BE49-F238E27FC236}">
                <a16:creationId xmlns:a16="http://schemas.microsoft.com/office/drawing/2014/main" id="{F06F407D-6EF6-BB87-9944-CF2647FDCC14}"/>
              </a:ext>
            </a:extLst>
          </p:cNvPr>
          <p:cNvSpPr>
            <a:spLocks noGrp="1"/>
          </p:cNvSpPr>
          <p:nvPr>
            <p:ph type="body" idx="1"/>
          </p:nvPr>
        </p:nvSpPr>
        <p:spPr>
          <a:xfrm>
            <a:off x="992835" y="1250086"/>
            <a:ext cx="9725660" cy="3456139"/>
          </a:xfrm>
        </p:spPr>
        <p:txBody>
          <a:bodyPr/>
          <a:lstStyle/>
          <a:p>
            <a:pPr algn="just">
              <a:lnSpc>
                <a:spcPct val="150000"/>
              </a:lnSpc>
            </a:pPr>
            <a:r>
              <a:rPr lang="en-IN" dirty="0"/>
              <a:t>The Geo-Tracker app is a Flutter-based mobile application designed to fetch real-time GPS coordinates and convert them into human-readable addresses such as city, state, and country. Unlike complex commercial apps, this system focuses on simplicity, transparency, and ease of understanding, making it ideal for academic and learning purposes. Users can see how GPS coordinates are obtained, how permissions are handled, and how raw data is converted into meaningful location information. This lightweight app provides a practical introduction to location-based services and mobile app development without relying on heavy maps, complex APIs, or internet connectivity.</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9" name="object 5">
            <a:extLst>
              <a:ext uri="{FF2B5EF4-FFF2-40B4-BE49-F238E27FC236}">
                <a16:creationId xmlns:a16="http://schemas.microsoft.com/office/drawing/2014/main" id="{51DB827F-BE7A-69AB-E6FA-973BE00320A4}"/>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97785">
              <a:lnSpc>
                <a:spcPct val="100000"/>
              </a:lnSpc>
              <a:spcBef>
                <a:spcPts val="95"/>
              </a:spcBef>
            </a:pPr>
            <a:r>
              <a:rPr dirty="0"/>
              <a:t>EXISTING</a:t>
            </a:r>
            <a:r>
              <a:rPr spc="-200" dirty="0"/>
              <a:t> </a:t>
            </a:r>
            <a:r>
              <a:rPr spc="-10" dirty="0"/>
              <a:t>SYSTEM</a:t>
            </a:r>
          </a:p>
        </p:txBody>
      </p:sp>
      <p:sp>
        <p:nvSpPr>
          <p:cNvPr id="4" name="Text Placeholder 3">
            <a:extLst>
              <a:ext uri="{FF2B5EF4-FFF2-40B4-BE49-F238E27FC236}">
                <a16:creationId xmlns:a16="http://schemas.microsoft.com/office/drawing/2014/main" id="{537DA76B-065B-C42E-7829-7558F4580ABD}"/>
              </a:ext>
            </a:extLst>
          </p:cNvPr>
          <p:cNvSpPr>
            <a:spLocks noGrp="1"/>
          </p:cNvSpPr>
          <p:nvPr>
            <p:ph type="body" idx="1"/>
          </p:nvPr>
        </p:nvSpPr>
        <p:spPr>
          <a:xfrm>
            <a:off x="992835" y="1250086"/>
            <a:ext cx="9725660" cy="3017557"/>
          </a:xfrm>
        </p:spPr>
        <p:txBody>
          <a:bodyPr/>
          <a:lstStyle/>
          <a:p>
            <a:pPr>
              <a:lnSpc>
                <a:spcPct val="150000"/>
              </a:lnSpc>
              <a:buFont typeface="Arial" panose="020B0604020202020204" pitchFamily="34" charset="0"/>
              <a:buChar char="•"/>
            </a:pPr>
            <a:r>
              <a:rPr lang="en-IN" dirty="0"/>
              <a:t>Popular apps like </a:t>
            </a:r>
            <a:r>
              <a:rPr lang="en-IN" b="1" dirty="0"/>
              <a:t>Google Maps, Uber, </a:t>
            </a:r>
            <a:r>
              <a:rPr lang="en-IN" b="1" dirty="0" err="1"/>
              <a:t>Swiggy</a:t>
            </a:r>
            <a:r>
              <a:rPr lang="en-IN" b="1" dirty="0"/>
              <a:t>, and Zomato</a:t>
            </a:r>
            <a:r>
              <a:rPr lang="en-IN" dirty="0"/>
              <a:t> use built-in GPS for navigation and location services.</a:t>
            </a:r>
          </a:p>
          <a:p>
            <a:pPr>
              <a:lnSpc>
                <a:spcPct val="150000"/>
              </a:lnSpc>
              <a:buFont typeface="Arial" panose="020B0604020202020204" pitchFamily="34" charset="0"/>
              <a:buChar char="•"/>
            </a:pPr>
            <a:r>
              <a:rPr lang="en-IN" dirty="0"/>
              <a:t>Feature-rich systems with </a:t>
            </a:r>
            <a:r>
              <a:rPr lang="en-IN" b="1" dirty="0"/>
              <a:t>live maps, routing algorithms, traffic prediction, background tracking, and server-side APIs</a:t>
            </a:r>
            <a:r>
              <a:rPr lang="en-IN" dirty="0"/>
              <a:t>.</a:t>
            </a:r>
          </a:p>
          <a:p>
            <a:pPr>
              <a:lnSpc>
                <a:spcPct val="150000"/>
              </a:lnSpc>
              <a:buFont typeface="Arial" panose="020B0604020202020204" pitchFamily="34" charset="0"/>
              <a:buChar char="•"/>
            </a:pPr>
            <a:r>
              <a:rPr lang="en-IN" b="1" dirty="0"/>
              <a:t>Resource-intensive</a:t>
            </a:r>
            <a:r>
              <a:rPr lang="en-IN" dirty="0"/>
              <a:t> and often require continuous </a:t>
            </a:r>
            <a:r>
              <a:rPr lang="en-IN" b="1" dirty="0"/>
              <a:t>internet connectivity</a:t>
            </a:r>
            <a:r>
              <a:rPr lang="en-IN" dirty="0"/>
              <a:t>.</a:t>
            </a:r>
          </a:p>
          <a:p>
            <a:pPr>
              <a:lnSpc>
                <a:spcPct val="150000"/>
              </a:lnSpc>
              <a:buFont typeface="Arial" panose="020B0604020202020204" pitchFamily="34" charset="0"/>
              <a:buChar char="•"/>
            </a:pPr>
            <a:r>
              <a:rPr lang="en-IN" b="1" dirty="0"/>
              <a:t>Hide low-level processes</a:t>
            </a:r>
            <a:r>
              <a:rPr lang="en-IN" dirty="0"/>
              <a:t> like how GPS coordinates are retrieved and converted to addresses.</a:t>
            </a:r>
          </a:p>
          <a:p>
            <a:pPr>
              <a:lnSpc>
                <a:spcPct val="150000"/>
              </a:lnSpc>
              <a:buFont typeface="Arial" panose="020B0604020202020204" pitchFamily="34" charset="0"/>
              <a:buChar char="•"/>
            </a:pPr>
            <a:r>
              <a:rPr lang="en-IN" b="1" dirty="0"/>
              <a:t>Not suitable for educational purposes</a:t>
            </a:r>
            <a:r>
              <a:rPr lang="en-IN" dirty="0"/>
              <a:t> due to complexity and lack of transparency.</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3" name="object 3"/>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5" name="object 5">
            <a:extLst>
              <a:ext uri="{FF2B5EF4-FFF2-40B4-BE49-F238E27FC236}">
                <a16:creationId xmlns:a16="http://schemas.microsoft.com/office/drawing/2014/main" id="{B5D6467E-8CC7-104B-BE53-3B396DF538CA}"/>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7630" rIns="0" bIns="0" rtlCol="0">
            <a:spAutoFit/>
          </a:bodyPr>
          <a:lstStyle/>
          <a:p>
            <a:pPr marL="2557780">
              <a:lnSpc>
                <a:spcPct val="100000"/>
              </a:lnSpc>
              <a:spcBef>
                <a:spcPts val="95"/>
              </a:spcBef>
            </a:pPr>
            <a:r>
              <a:rPr spc="-20" dirty="0"/>
              <a:t>PROPOSED</a:t>
            </a:r>
            <a:r>
              <a:rPr spc="-120" dirty="0"/>
              <a:t> </a:t>
            </a:r>
            <a:r>
              <a:rPr spc="-10" dirty="0"/>
              <a:t>SYSTEM</a:t>
            </a:r>
          </a:p>
        </p:txBody>
      </p:sp>
      <p:sp>
        <p:nvSpPr>
          <p:cNvPr id="3" name="Text Placeholder 2">
            <a:extLst>
              <a:ext uri="{FF2B5EF4-FFF2-40B4-BE49-F238E27FC236}">
                <a16:creationId xmlns:a16="http://schemas.microsoft.com/office/drawing/2014/main" id="{45AB262C-2B60-598E-3D33-F93FE7BB4E22}"/>
              </a:ext>
            </a:extLst>
          </p:cNvPr>
          <p:cNvSpPr>
            <a:spLocks noGrp="1"/>
          </p:cNvSpPr>
          <p:nvPr>
            <p:ph type="body" idx="1"/>
          </p:nvPr>
        </p:nvSpPr>
        <p:spPr>
          <a:xfrm>
            <a:off x="992835" y="1250086"/>
            <a:ext cx="9725660" cy="4333302"/>
          </a:xfrm>
        </p:spPr>
        <p:txBody>
          <a:bodyPr/>
          <a:lstStyle/>
          <a:p>
            <a:pPr>
              <a:lnSpc>
                <a:spcPct val="150000"/>
              </a:lnSpc>
              <a:buFont typeface="Arial" panose="020B0604020202020204" pitchFamily="34" charset="0"/>
              <a:buChar char="•"/>
            </a:pPr>
            <a:r>
              <a:rPr lang="en-IN" dirty="0"/>
              <a:t>A </a:t>
            </a:r>
            <a:r>
              <a:rPr lang="en-IN" b="1" dirty="0"/>
              <a:t>lightweight Flutter app</a:t>
            </a:r>
            <a:r>
              <a:rPr lang="en-IN" dirty="0"/>
              <a:t> designed for educational and small-scale use.</a:t>
            </a:r>
          </a:p>
          <a:p>
            <a:pPr>
              <a:lnSpc>
                <a:spcPct val="150000"/>
              </a:lnSpc>
              <a:buFont typeface="Arial" panose="020B0604020202020204" pitchFamily="34" charset="0"/>
              <a:buChar char="•"/>
            </a:pPr>
            <a:r>
              <a:rPr lang="en-IN" dirty="0"/>
              <a:t>Fetches </a:t>
            </a:r>
            <a:r>
              <a:rPr lang="en-IN" b="1" dirty="0"/>
              <a:t>real-time GPS coordinates</a:t>
            </a:r>
            <a:r>
              <a:rPr lang="en-IN" dirty="0"/>
              <a:t> and converts them to </a:t>
            </a:r>
            <a:r>
              <a:rPr lang="en-IN" b="1" dirty="0"/>
              <a:t>human-readable addresses</a:t>
            </a:r>
            <a:r>
              <a:rPr lang="en-IN" dirty="0"/>
              <a:t> (city, state, country).</a:t>
            </a:r>
          </a:p>
          <a:p>
            <a:pPr>
              <a:lnSpc>
                <a:spcPct val="150000"/>
              </a:lnSpc>
              <a:buFont typeface="Arial" panose="020B0604020202020204" pitchFamily="34" charset="0"/>
              <a:buChar char="•"/>
            </a:pPr>
            <a:r>
              <a:rPr lang="en-IN" dirty="0"/>
              <a:t>Handles </a:t>
            </a:r>
            <a:r>
              <a:rPr lang="en-IN" b="1" dirty="0"/>
              <a:t>permissions and error checking</a:t>
            </a:r>
            <a:r>
              <a:rPr lang="en-IN" dirty="0"/>
              <a:t> effectively.</a:t>
            </a:r>
          </a:p>
          <a:p>
            <a:pPr>
              <a:lnSpc>
                <a:spcPct val="150000"/>
              </a:lnSpc>
              <a:buFont typeface="Arial" panose="020B0604020202020204" pitchFamily="34" charset="0"/>
              <a:buChar char="•"/>
            </a:pPr>
            <a:r>
              <a:rPr lang="en-IN" dirty="0"/>
              <a:t>Works </a:t>
            </a:r>
            <a:r>
              <a:rPr lang="en-IN" b="1" dirty="0"/>
              <a:t>offline</a:t>
            </a:r>
            <a:r>
              <a:rPr lang="en-IN" dirty="0"/>
              <a:t> for basic location fetching.</a:t>
            </a:r>
          </a:p>
          <a:p>
            <a:pPr>
              <a:lnSpc>
                <a:spcPct val="150000"/>
              </a:lnSpc>
              <a:buFont typeface="Arial" panose="020B0604020202020204" pitchFamily="34" charset="0"/>
              <a:buChar char="•"/>
            </a:pPr>
            <a:r>
              <a:rPr lang="en-IN" b="1" dirty="0"/>
              <a:t>Minimal UI</a:t>
            </a:r>
            <a:r>
              <a:rPr lang="en-IN" dirty="0"/>
              <a:t> for clarity and simplicity.</a:t>
            </a:r>
          </a:p>
          <a:p>
            <a:pPr>
              <a:lnSpc>
                <a:spcPct val="150000"/>
              </a:lnSpc>
              <a:buFont typeface="Arial" panose="020B0604020202020204" pitchFamily="34" charset="0"/>
              <a:buChar char="•"/>
            </a:pPr>
            <a:r>
              <a:rPr lang="en-IN" b="1" dirty="0"/>
              <a:t>Customizable</a:t>
            </a:r>
            <a:r>
              <a:rPr lang="en-IN" dirty="0"/>
              <a:t> for learning purposes: experiment with coordinate formats, UI, and permission prompts.</a:t>
            </a:r>
          </a:p>
          <a:p>
            <a:pPr>
              <a:lnSpc>
                <a:spcPct val="150000"/>
              </a:lnSpc>
              <a:buFont typeface="Arial" panose="020B0604020202020204" pitchFamily="34" charset="0"/>
              <a:buChar char="•"/>
            </a:pPr>
            <a:r>
              <a:rPr lang="en-IN" dirty="0"/>
              <a:t>Provides a </a:t>
            </a:r>
            <a:r>
              <a:rPr lang="en-IN" b="1" dirty="0"/>
              <a:t>transparent and hands-on approach</a:t>
            </a:r>
            <a:r>
              <a:rPr lang="en-IN" dirty="0"/>
              <a:t> to understanding location-based app development.</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5" name="object 5">
            <a:extLst>
              <a:ext uri="{FF2B5EF4-FFF2-40B4-BE49-F238E27FC236}">
                <a16:creationId xmlns:a16="http://schemas.microsoft.com/office/drawing/2014/main" id="{85482A4C-1EA2-D844-46B5-AF43ECD73860}"/>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0969" rIns="0" bIns="0" rtlCol="0">
            <a:spAutoFit/>
          </a:bodyPr>
          <a:lstStyle/>
          <a:p>
            <a:pPr marL="12700">
              <a:lnSpc>
                <a:spcPct val="100000"/>
              </a:lnSpc>
              <a:spcBef>
                <a:spcPts val="95"/>
              </a:spcBef>
            </a:pPr>
            <a:r>
              <a:rPr spc="-90" dirty="0"/>
              <a:t>HARDWARE</a:t>
            </a:r>
            <a:r>
              <a:rPr spc="-165" dirty="0"/>
              <a:t> </a:t>
            </a:r>
            <a:r>
              <a:rPr dirty="0"/>
              <a:t>AND</a:t>
            </a:r>
            <a:r>
              <a:rPr spc="-200" dirty="0"/>
              <a:t> </a:t>
            </a:r>
            <a:r>
              <a:rPr spc="-40" dirty="0"/>
              <a:t>SOFTWARE</a:t>
            </a:r>
            <a:r>
              <a:rPr spc="-90" dirty="0"/>
              <a:t> </a:t>
            </a:r>
            <a:r>
              <a:rPr spc="-10" dirty="0"/>
              <a:t>REQUIREMENTS</a:t>
            </a:r>
          </a:p>
        </p:txBody>
      </p:sp>
      <p:sp>
        <p:nvSpPr>
          <p:cNvPr id="3" name="object 3"/>
          <p:cNvSpPr txBox="1"/>
          <p:nvPr/>
        </p:nvSpPr>
        <p:spPr>
          <a:xfrm>
            <a:off x="951990" y="1261838"/>
            <a:ext cx="7887209" cy="3831433"/>
          </a:xfrm>
          <a:prstGeom prst="rect">
            <a:avLst/>
          </a:prstGeom>
        </p:spPr>
        <p:txBody>
          <a:bodyPr vert="horz" wrap="square" lIns="0" tIns="140335" rIns="0" bIns="0" rtlCol="0">
            <a:spAutoFit/>
          </a:bodyPr>
          <a:lstStyle/>
          <a:p>
            <a:pPr marL="289560">
              <a:lnSpc>
                <a:spcPct val="150000"/>
              </a:lnSpc>
            </a:pPr>
            <a:r>
              <a:rPr lang="en-US" sz="1800" b="1" dirty="0">
                <a:effectLst/>
                <a:latin typeface="Times New Roman" panose="02020603050405020304" pitchFamily="18" charset="0"/>
                <a:ea typeface="Times New Roman" panose="02020603050405020304" pitchFamily="18" charset="0"/>
              </a:rPr>
              <a:t>HARDWARE</a:t>
            </a:r>
            <a:r>
              <a:rPr lang="en-US" sz="1800" b="1" spc="-25"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REQUIREMENTS:</a:t>
            </a:r>
            <a:endParaRPr lang="en-IN" sz="1800" b="1" dirty="0">
              <a:effectLst/>
              <a:latin typeface="Times New Roman" panose="02020603050405020304" pitchFamily="18" charset="0"/>
              <a:ea typeface="Times New Roman" panose="02020603050405020304" pitchFamily="18" charset="0"/>
            </a:endParaRPr>
          </a:p>
          <a:p>
            <a:pPr algn="l">
              <a:lnSpc>
                <a:spcPct val="150000"/>
              </a:lnSpc>
            </a:pPr>
            <a:r>
              <a:rPr lang="en-US" sz="1800" dirty="0">
                <a:effectLst/>
                <a:latin typeface="Times New Roman" panose="02020603050405020304" pitchFamily="18" charset="0"/>
                <a:ea typeface="Times New Roman" panose="02020603050405020304" pitchFamily="18" charset="0"/>
              </a:rPr>
              <a:t>     Processor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Intel Core i5 / Mac M-series chip</a:t>
            </a:r>
          </a:p>
          <a:p>
            <a:pPr algn="l">
              <a:lnSpc>
                <a:spcPct val="150000"/>
              </a:lnSpc>
            </a:pPr>
            <a:r>
              <a:rPr lang="en-IN"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Hard Disk :- 256 GB</a:t>
            </a:r>
            <a:endParaRPr lang="en-IN" sz="1800" dirty="0">
              <a:effectLst/>
              <a:latin typeface="Times New Roman" panose="02020603050405020304" pitchFamily="18" charset="0"/>
              <a:ea typeface="Times New Roman" panose="02020603050405020304" pitchFamily="18" charset="0"/>
            </a:endParaRPr>
          </a:p>
          <a:p>
            <a:pPr marL="289560" algn="l">
              <a:lnSpc>
                <a:spcPct val="150000"/>
              </a:lnSpc>
            </a:pPr>
            <a:r>
              <a:rPr lang="en-US" sz="1800" dirty="0">
                <a:effectLst/>
                <a:latin typeface="Times New Roman" panose="02020603050405020304" pitchFamily="18" charset="0"/>
                <a:ea typeface="Times New Roman" panose="02020603050405020304" pitchFamily="18" charset="0"/>
              </a:rPr>
              <a:t>RAM</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8GB(Minimum)</a:t>
            </a:r>
          </a:p>
          <a:p>
            <a:pPr marL="289560" algn="l">
              <a:lnSpc>
                <a:spcPct val="150000"/>
              </a:lnSpc>
            </a:pPr>
            <a:endParaRPr lang="en-IN" sz="1800" dirty="0">
              <a:effectLst/>
              <a:latin typeface="Times New Roman" panose="02020603050405020304" pitchFamily="18" charset="0"/>
              <a:ea typeface="Times New Roman" panose="02020603050405020304" pitchFamily="18" charset="0"/>
            </a:endParaRPr>
          </a:p>
          <a:p>
            <a:pPr marL="289560">
              <a:lnSpc>
                <a:spcPct val="150000"/>
              </a:lnSpc>
            </a:pPr>
            <a:r>
              <a:rPr lang="en-US" sz="1800" b="1" dirty="0">
                <a:effectLst/>
                <a:latin typeface="Times New Roman" panose="02020603050405020304" pitchFamily="18" charset="0"/>
                <a:ea typeface="Times New Roman" panose="02020603050405020304" pitchFamily="18" charset="0"/>
              </a:rPr>
              <a:t>SOFTWARE</a:t>
            </a:r>
            <a:r>
              <a:rPr lang="en-US" sz="1800" b="1" spc="-25"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REQUIREMENTS:</a:t>
            </a:r>
            <a:endParaRPr lang="en-IN" sz="1800" dirty="0">
              <a:effectLst/>
              <a:latin typeface="Times New Roman" panose="02020603050405020304" pitchFamily="18" charset="0"/>
              <a:ea typeface="Times New Roman" panose="02020603050405020304" pitchFamily="18" charset="0"/>
            </a:endParaRPr>
          </a:p>
          <a:p>
            <a:pPr algn="l">
              <a:lnSpc>
                <a:spcPct val="150000"/>
              </a:lnSpc>
            </a:pPr>
            <a:r>
              <a:rPr lang="en-US" sz="1800" dirty="0">
                <a:effectLst/>
                <a:latin typeface="Times New Roman" panose="02020603050405020304" pitchFamily="18" charset="0"/>
                <a:ea typeface="Times New Roman" panose="02020603050405020304" pitchFamily="18" charset="0"/>
              </a:rPr>
              <a:t>     Operating</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Windows /MAC OS</a:t>
            </a:r>
            <a:endParaRPr lang="en-IN" sz="1800" dirty="0">
              <a:effectLst/>
              <a:latin typeface="Times New Roman" panose="02020603050405020304" pitchFamily="18" charset="0"/>
              <a:ea typeface="Times New Roman" panose="02020603050405020304" pitchFamily="18" charset="0"/>
            </a:endParaRPr>
          </a:p>
          <a:p>
            <a:pPr marL="289560" marR="3792220" algn="l">
              <a:lnSpc>
                <a:spcPct val="150000"/>
              </a:lnSpc>
              <a:spcAft>
                <a:spcPts val="0"/>
              </a:spcAft>
            </a:pPr>
            <a:r>
              <a:rPr lang="en-US" sz="1800" dirty="0">
                <a:effectLst/>
                <a:latin typeface="Times New Roman" panose="02020603050405020304" pitchFamily="18" charset="0"/>
                <a:ea typeface="Times New Roman" panose="02020603050405020304" pitchFamily="18" charset="0"/>
              </a:rPr>
              <a:t>Programming Language :- Dart</a:t>
            </a:r>
          </a:p>
          <a:p>
            <a:pPr algn="l">
              <a:lnSpc>
                <a:spcPct val="150000"/>
              </a:lnSpc>
            </a:pP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Software,IDE</a:t>
            </a:r>
            <a:r>
              <a:rPr lang="en-US" sz="1800" dirty="0">
                <a:effectLst/>
                <a:latin typeface="Times New Roman" panose="02020603050405020304" pitchFamily="18" charset="0"/>
                <a:ea typeface="Times New Roman" panose="02020603050405020304" pitchFamily="18" charset="0"/>
              </a:rPr>
              <a:t>  used :-  </a:t>
            </a:r>
            <a:r>
              <a:rPr lang="en-US" sz="1800" dirty="0" err="1">
                <a:effectLst/>
                <a:latin typeface="Times New Roman" panose="02020603050405020304" pitchFamily="18" charset="0"/>
                <a:ea typeface="Times New Roman" panose="02020603050405020304" pitchFamily="18" charset="0"/>
              </a:rPr>
              <a:t>Flutter,Android</a:t>
            </a:r>
            <a:r>
              <a:rPr lang="en-US" sz="1800" dirty="0">
                <a:effectLst/>
                <a:latin typeface="Times New Roman" panose="02020603050405020304" pitchFamily="18" charset="0"/>
                <a:ea typeface="Times New Roman" panose="02020603050405020304" pitchFamily="18" charset="0"/>
              </a:rPr>
              <a:t> Studio</a:t>
            </a:r>
            <a:endParaRPr sz="1800" dirty="0">
              <a:latin typeface="Times New Roman"/>
              <a:cs typeface="Times New Roman"/>
            </a:endParaRP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5" name="object 5">
            <a:extLst>
              <a:ext uri="{FF2B5EF4-FFF2-40B4-BE49-F238E27FC236}">
                <a16:creationId xmlns:a16="http://schemas.microsoft.com/office/drawing/2014/main" id="{4C6FAB31-F709-8AF1-BACE-EBE7191CAA02}"/>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877820">
              <a:lnSpc>
                <a:spcPct val="100000"/>
              </a:lnSpc>
              <a:spcBef>
                <a:spcPts val="95"/>
              </a:spcBef>
            </a:pPr>
            <a:r>
              <a:rPr spc="-55" dirty="0"/>
              <a:t>IMPLEMENTATION</a:t>
            </a:r>
          </a:p>
        </p:txBody>
      </p:sp>
      <p:sp>
        <p:nvSpPr>
          <p:cNvPr id="10" name="Text Placeholder 9">
            <a:extLst>
              <a:ext uri="{FF2B5EF4-FFF2-40B4-BE49-F238E27FC236}">
                <a16:creationId xmlns:a16="http://schemas.microsoft.com/office/drawing/2014/main" id="{2F52AC3E-3F76-852A-D753-E38F6056AE14}"/>
              </a:ext>
            </a:extLst>
          </p:cNvPr>
          <p:cNvSpPr>
            <a:spLocks noGrp="1"/>
          </p:cNvSpPr>
          <p:nvPr>
            <p:ph type="body" idx="1"/>
          </p:nvPr>
        </p:nvSpPr>
        <p:spPr>
          <a:xfrm>
            <a:off x="1502410" y="858633"/>
            <a:ext cx="9725660" cy="5779809"/>
          </a:xfrm>
        </p:spPr>
        <p:txBody>
          <a:bodyPr/>
          <a:lstStyle/>
          <a:p>
            <a:pPr>
              <a:lnSpc>
                <a:spcPct val="150000"/>
              </a:lnSpc>
            </a:pPr>
            <a:r>
              <a:rPr lang="en-IN" b="1" dirty="0"/>
              <a:t>App Launch:</a:t>
            </a:r>
            <a:endParaRPr lang="en-IN" dirty="0"/>
          </a:p>
          <a:p>
            <a:pPr>
              <a:lnSpc>
                <a:spcPct val="150000"/>
              </a:lnSpc>
              <a:buFont typeface="Arial" panose="020B0604020202020204" pitchFamily="34" charset="0"/>
              <a:buChar char="•"/>
            </a:pPr>
            <a:r>
              <a:rPr lang="en-IN" dirty="0"/>
              <a:t>The user opens the app and sees a simple screen with a button to get location.</a:t>
            </a:r>
          </a:p>
          <a:p>
            <a:pPr>
              <a:lnSpc>
                <a:spcPct val="150000"/>
              </a:lnSpc>
            </a:pPr>
            <a:r>
              <a:rPr lang="en-IN" b="1" dirty="0"/>
              <a:t>Button Press:</a:t>
            </a:r>
            <a:endParaRPr lang="en-IN" dirty="0"/>
          </a:p>
          <a:p>
            <a:pPr>
              <a:lnSpc>
                <a:spcPct val="150000"/>
              </a:lnSpc>
              <a:buFont typeface="Arial" panose="020B0604020202020204" pitchFamily="34" charset="0"/>
              <a:buChar char="•"/>
            </a:pPr>
            <a:r>
              <a:rPr lang="en-IN" dirty="0"/>
              <a:t>When the user taps </a:t>
            </a:r>
            <a:r>
              <a:rPr lang="en-IN" b="1" dirty="0"/>
              <a:t>“Get Location”</a:t>
            </a:r>
            <a:r>
              <a:rPr lang="en-IN" dirty="0"/>
              <a:t>, the app starts fetching location.</a:t>
            </a:r>
          </a:p>
          <a:p>
            <a:pPr>
              <a:lnSpc>
                <a:spcPct val="150000"/>
              </a:lnSpc>
            </a:pPr>
            <a:r>
              <a:rPr lang="en-IN" b="1" dirty="0"/>
              <a:t>Check Location Services &amp; Permissions:</a:t>
            </a:r>
            <a:endParaRPr lang="en-IN" dirty="0"/>
          </a:p>
          <a:p>
            <a:pPr>
              <a:lnSpc>
                <a:spcPct val="150000"/>
              </a:lnSpc>
              <a:buFont typeface="Arial" panose="020B0604020202020204" pitchFamily="34" charset="0"/>
              <a:buChar char="•"/>
            </a:pPr>
            <a:r>
              <a:rPr lang="en-IN" dirty="0"/>
              <a:t>The app checks if GPS is enabled.</a:t>
            </a:r>
          </a:p>
          <a:p>
            <a:pPr>
              <a:lnSpc>
                <a:spcPct val="150000"/>
              </a:lnSpc>
              <a:buFont typeface="Arial" panose="020B0604020202020204" pitchFamily="34" charset="0"/>
              <a:buChar char="•"/>
            </a:pPr>
            <a:r>
              <a:rPr lang="en-IN" dirty="0"/>
              <a:t>Requests permission from the user if not already granted.</a:t>
            </a:r>
          </a:p>
          <a:p>
            <a:pPr>
              <a:lnSpc>
                <a:spcPct val="150000"/>
              </a:lnSpc>
            </a:pPr>
            <a:r>
              <a:rPr lang="en-IN" b="1" dirty="0"/>
              <a:t>Get Current Coordinates:</a:t>
            </a:r>
            <a:endParaRPr lang="en-IN" dirty="0"/>
          </a:p>
          <a:p>
            <a:pPr>
              <a:lnSpc>
                <a:spcPct val="150000"/>
              </a:lnSpc>
              <a:buFont typeface="Arial" panose="020B0604020202020204" pitchFamily="34" charset="0"/>
              <a:buChar char="•"/>
            </a:pPr>
            <a:r>
              <a:rPr lang="en-IN" dirty="0"/>
              <a:t>Using GPS, the app fetches the </a:t>
            </a:r>
            <a:r>
              <a:rPr lang="en-IN" b="1" dirty="0"/>
              <a:t>latitude and longitude</a:t>
            </a:r>
            <a:r>
              <a:rPr lang="en-IN" dirty="0"/>
              <a:t> of the device.</a:t>
            </a:r>
          </a:p>
          <a:p>
            <a:pPr>
              <a:lnSpc>
                <a:spcPct val="150000"/>
              </a:lnSpc>
            </a:pPr>
            <a:r>
              <a:rPr lang="en-IN" b="1" dirty="0"/>
              <a:t>Convert to Address:</a:t>
            </a:r>
            <a:endParaRPr lang="en-IN" dirty="0"/>
          </a:p>
          <a:p>
            <a:pPr>
              <a:lnSpc>
                <a:spcPct val="150000"/>
              </a:lnSpc>
              <a:buFont typeface="Arial" panose="020B0604020202020204" pitchFamily="34" charset="0"/>
              <a:buChar char="•"/>
            </a:pPr>
            <a:r>
              <a:rPr lang="en-IN" dirty="0"/>
              <a:t>The app converts latitude and longitude into a </a:t>
            </a:r>
            <a:r>
              <a:rPr lang="en-IN" b="1" dirty="0"/>
              <a:t>readable address</a:t>
            </a:r>
            <a:r>
              <a:rPr lang="en-IN" dirty="0"/>
              <a:t> (city, state, country).</a:t>
            </a:r>
          </a:p>
          <a:p>
            <a:pPr>
              <a:lnSpc>
                <a:spcPct val="150000"/>
              </a:lnSpc>
            </a:pPr>
            <a:r>
              <a:rPr lang="en-IN" b="1" dirty="0"/>
              <a:t>Display Location:</a:t>
            </a:r>
            <a:endParaRPr lang="en-IN" dirty="0"/>
          </a:p>
          <a:p>
            <a:pPr>
              <a:lnSpc>
                <a:spcPct val="150000"/>
              </a:lnSpc>
              <a:buFont typeface="Arial" panose="020B0604020202020204" pitchFamily="34" charset="0"/>
              <a:buChar char="•"/>
            </a:pPr>
            <a:r>
              <a:rPr lang="en-IN" dirty="0"/>
              <a:t>The location details are displayed on the screen.</a:t>
            </a:r>
          </a:p>
          <a:p>
            <a:pPr>
              <a:lnSpc>
                <a:spcPct val="150000"/>
              </a:lnSpc>
            </a:pPr>
            <a:endParaRPr lang="en-US"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5" name="object 5">
            <a:extLst>
              <a:ext uri="{FF2B5EF4-FFF2-40B4-BE49-F238E27FC236}">
                <a16:creationId xmlns:a16="http://schemas.microsoft.com/office/drawing/2014/main" id="{49CF45A7-F83F-D70A-F52B-0D31B3E211D1}"/>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pic>
        <p:nvPicPr>
          <p:cNvPr id="11" name="Content Placeholder 10">
            <a:extLst>
              <a:ext uri="{FF2B5EF4-FFF2-40B4-BE49-F238E27FC236}">
                <a16:creationId xmlns:a16="http://schemas.microsoft.com/office/drawing/2014/main" id="{8E9C975B-BCB7-6931-6AB5-32C4EDD80B3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066800" y="993647"/>
            <a:ext cx="4724400" cy="5110291"/>
          </a:xfrm>
        </p:spPr>
      </p:pic>
      <p:pic>
        <p:nvPicPr>
          <p:cNvPr id="16" name="Content Placeholder 15">
            <a:extLst>
              <a:ext uri="{FF2B5EF4-FFF2-40B4-BE49-F238E27FC236}">
                <a16:creationId xmlns:a16="http://schemas.microsoft.com/office/drawing/2014/main" id="{41F84D93-4F0F-AC3F-E793-9DF17DAEB908}"/>
              </a:ext>
            </a:extLst>
          </p:cNvPr>
          <p:cNvPicPr>
            <a:picLocks noGrp="1" noChangeAspect="1"/>
          </p:cNvPicPr>
          <p:nvPr>
            <p:ph sz="half" idx="3"/>
          </p:nvPr>
        </p:nvPicPr>
        <p:blipFill>
          <a:blip r:embed="rId4">
            <a:extLst>
              <a:ext uri="{28A0092B-C50C-407E-A947-70E740481C1C}">
                <a14:useLocalDpi xmlns:a14="http://schemas.microsoft.com/office/drawing/2010/main" val="0"/>
              </a:ext>
            </a:extLst>
          </a:blip>
          <a:stretch>
            <a:fillRect/>
          </a:stretch>
        </p:blipFill>
        <p:spPr>
          <a:xfrm>
            <a:off x="6019800" y="993647"/>
            <a:ext cx="5410200" cy="5110292"/>
          </a:xfrm>
        </p:spPr>
      </p:pic>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2" name="object 5">
            <a:extLst>
              <a:ext uri="{FF2B5EF4-FFF2-40B4-BE49-F238E27FC236}">
                <a16:creationId xmlns:a16="http://schemas.microsoft.com/office/drawing/2014/main" id="{2A713DBB-47FC-312E-367A-C6F512DB5CDA}"/>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
        <p:nvSpPr>
          <p:cNvPr id="10" name="TextBox 9">
            <a:extLst>
              <a:ext uri="{FF2B5EF4-FFF2-40B4-BE49-F238E27FC236}">
                <a16:creationId xmlns:a16="http://schemas.microsoft.com/office/drawing/2014/main" id="{C4EB136C-3F4F-BEE0-A504-8D4272F5F93D}"/>
              </a:ext>
            </a:extLst>
          </p:cNvPr>
          <p:cNvSpPr txBox="1"/>
          <p:nvPr/>
        </p:nvSpPr>
        <p:spPr>
          <a:xfrm>
            <a:off x="5082883" y="335797"/>
            <a:ext cx="1603324"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3075940">
              <a:lnSpc>
                <a:spcPct val="100000"/>
              </a:lnSpc>
              <a:spcBef>
                <a:spcPts val="90"/>
              </a:spcBef>
            </a:pPr>
            <a:r>
              <a:rPr spc="-10" dirty="0"/>
              <a:t>CONCLUSION</a:t>
            </a:r>
          </a:p>
        </p:txBody>
      </p:sp>
      <p:pic>
        <p:nvPicPr>
          <p:cNvPr id="4" name="object 4"/>
          <p:cNvPicPr/>
          <p:nvPr/>
        </p:nvPicPr>
        <p:blipFill>
          <a:blip r:embed="rId2" cstate="print"/>
          <a:stretch>
            <a:fillRect/>
          </a:stretch>
        </p:blipFill>
        <p:spPr>
          <a:xfrm>
            <a:off x="213359" y="201168"/>
            <a:ext cx="1185672" cy="792479"/>
          </a:xfrm>
          <a:prstGeom prst="rect">
            <a:avLst/>
          </a:prstGeom>
        </p:spPr>
      </p:pic>
      <p:sp>
        <p:nvSpPr>
          <p:cNvPr id="6" name="object 6"/>
          <p:cNvSpPr txBox="1"/>
          <p:nvPr/>
        </p:nvSpPr>
        <p:spPr>
          <a:xfrm>
            <a:off x="5884545" y="6460642"/>
            <a:ext cx="480695" cy="177800"/>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batch</a:t>
            </a:r>
            <a:r>
              <a:rPr sz="1200" spc="-60" dirty="0">
                <a:solidFill>
                  <a:srgbClr val="878787"/>
                </a:solidFill>
                <a:latin typeface="Calibri"/>
                <a:cs typeface="Calibri"/>
              </a:rPr>
              <a:t> </a:t>
            </a:r>
            <a:r>
              <a:rPr sz="1200" spc="-50" dirty="0">
                <a:solidFill>
                  <a:srgbClr val="878787"/>
                </a:solidFill>
                <a:latin typeface="Calibri"/>
                <a:cs typeface="Calibri"/>
              </a:rPr>
              <a:t>9</a:t>
            </a:r>
            <a:endParaRPr sz="12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20" dirty="0"/>
              <a:t>DEPARTMENT</a:t>
            </a:r>
            <a:r>
              <a:rPr spc="-15" dirty="0"/>
              <a:t> </a:t>
            </a:r>
            <a:r>
              <a:rPr spc="-10" dirty="0"/>
              <a:t>OF</a:t>
            </a:r>
            <a:r>
              <a:rPr dirty="0"/>
              <a:t> </a:t>
            </a:r>
            <a:r>
              <a:rPr spc="-20" dirty="0"/>
              <a:t>AIML</a:t>
            </a:r>
          </a:p>
        </p:txBody>
      </p:sp>
      <p:sp>
        <p:nvSpPr>
          <p:cNvPr id="9" name="Text Placeholder 8">
            <a:extLst>
              <a:ext uri="{FF2B5EF4-FFF2-40B4-BE49-F238E27FC236}">
                <a16:creationId xmlns:a16="http://schemas.microsoft.com/office/drawing/2014/main" id="{D2DF7865-9727-E246-AB04-70302A17B80C}"/>
              </a:ext>
            </a:extLst>
          </p:cNvPr>
          <p:cNvSpPr>
            <a:spLocks noGrp="1"/>
          </p:cNvSpPr>
          <p:nvPr>
            <p:ph type="body" idx="1"/>
          </p:nvPr>
        </p:nvSpPr>
        <p:spPr>
          <a:xfrm>
            <a:off x="992835" y="1250086"/>
            <a:ext cx="9598965" cy="3017557"/>
          </a:xfrm>
        </p:spPr>
        <p:txBody>
          <a:bodyPr/>
          <a:lstStyle/>
          <a:p>
            <a:pPr algn="just">
              <a:lnSpc>
                <a:spcPct val="150000"/>
              </a:lnSpc>
            </a:pPr>
            <a:r>
              <a:rPr lang="en-IN" dirty="0"/>
              <a:t>The Geo-Tracker app successfully demonstrates the essential principles of location-based services in a simple and educational manner. It allows users to fetch GPS coordinates, convert them into human-readable addresses, and handle permissions and errors effectively. Compared to commercial apps, it is lightweight, transparent, and highly customizable, making it ideal for learning and experimentation. By bridging the gap between theory and practical implementation, the app provides students and developers with hands-on experience in Flutter and GPS integration, laying the foundation for more advanced location-based applications in the future.</a:t>
            </a:r>
          </a:p>
        </p:txBody>
      </p:sp>
      <p:sp>
        <p:nvSpPr>
          <p:cNvPr id="5" name="object 5">
            <a:extLst>
              <a:ext uri="{FF2B5EF4-FFF2-40B4-BE49-F238E27FC236}">
                <a16:creationId xmlns:a16="http://schemas.microsoft.com/office/drawing/2014/main" id="{B71C912E-A806-77E1-36D5-9F0EA45CCF3A}"/>
              </a:ext>
            </a:extLst>
          </p:cNvPr>
          <p:cNvSpPr txBox="1">
            <a:spLocks noGrp="1"/>
          </p:cNvSpPr>
          <p:nvPr>
            <p:ph type="dt" sz="half" idx="6"/>
          </p:nvPr>
        </p:nvSpPr>
        <p:spPr>
          <a:xfrm>
            <a:off x="380491" y="6460642"/>
            <a:ext cx="752475" cy="156005"/>
          </a:xfrm>
          <a:prstGeom prst="rect">
            <a:avLst/>
          </a:prstGeom>
        </p:spPr>
        <p:txBody>
          <a:bodyPr vert="horz" wrap="square" lIns="0" tIns="0" rIns="0" bIns="0" rtlCol="0">
            <a:spAutoFit/>
          </a:bodyPr>
          <a:lstStyle/>
          <a:p>
            <a:pPr marL="12700">
              <a:lnSpc>
                <a:spcPts val="1240"/>
              </a:lnSpc>
            </a:pPr>
            <a:r>
              <a:rPr lang="en-US" spc="-10" dirty="0"/>
              <a:t>1</a:t>
            </a:r>
            <a:r>
              <a:rPr spc="-10" dirty="0"/>
              <a:t>/</a:t>
            </a:r>
            <a:r>
              <a:rPr lang="en-US" spc="-10" dirty="0"/>
              <a:t>12</a:t>
            </a:r>
            <a:r>
              <a:rPr spc="-10" dirty="0"/>
              <a:t>/2025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TotalTime>
  <Words>657</Words>
  <Application>Microsoft Macintosh PowerPoint</Application>
  <PresentationFormat>Widescreen</PresentationFormat>
  <Paragraphs>83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SRI INDU COLLEGE OF ENGINEERING AND TECHNOLOGY DEPARTMENT OF AIML</vt:lpstr>
      <vt:lpstr>ABSTRACT</vt:lpstr>
      <vt:lpstr>EXISTING SYSTEM</vt:lpstr>
      <vt:lpstr>PROPOSED SYSTEM</vt:lpstr>
      <vt:lpstr>HARDWARE AND SOFTWARE REQUIREMENTS</vt:lpstr>
      <vt:lpstr>IMPLEMENTATION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SRI INDU COLLEGE OF ENGINEERING AND TECHNOLOGY DEPARTMENT OF AIML</dc:title>
  <cp:lastModifiedBy>Akash Goud</cp:lastModifiedBy>
  <cp:revision>6</cp:revision>
  <dcterms:created xsi:type="dcterms:W3CDTF">2025-11-24T16:20:45Z</dcterms:created>
  <dcterms:modified xsi:type="dcterms:W3CDTF">2025-11-30T14:02:11Z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2025-05-06T00:00:00Z</vt:filetime>
  </property>
  <property fmtid="{D5CDD505-2E9C-101B-9397-08002B2CF9AE}" pid="3" name="Creator">
    <vt:lpwstr>Microsoft® PowerPoint® 2016</vt:lpwstr>
  </property>
  <property fmtid="{D5CDD505-2E9C-101B-9397-08002B2CF9AE}" pid="4" name="LastSaved">
    <vt:filetime>2025-11-24T00:00:00Z</vt:filetime>
  </property>
  <property fmtid="{D5CDD505-2E9C-101B-9397-08002B2CF9AE}" pid="5" name="Producer">
    <vt:lpwstr>www.ilovepdf.com</vt:lpwstr>
  </property>
</Properties>
</file>